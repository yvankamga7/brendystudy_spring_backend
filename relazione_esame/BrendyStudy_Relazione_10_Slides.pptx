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09728" cy="4389120"/>
          </a:xfrm>
          <a:prstGeom prst="rect">
            <a:avLst/>
          </a:prstGeom>
          <a:solidFill>
            <a:srgbClr val="5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BrendyStudy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1488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7E4F8"/>
                </a:solidFill>
                <a:latin typeface="Aptos"/>
              </a:defRPr>
            </a:pPr>
            <a:r>
              <a:t>Piattaforma web per il tutoraggio e la condivisione delle competenze tra studenti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977639"/>
            <a:ext cx="80467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Progetto di Ingegneria del Software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Università degli Studi di Ferrara — A.A. 2025/2026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Studente: FOTSO KAMGA YVAN STEVE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989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FCBF1"/>
                </a:solidFill>
                <a:latin typeface="Aptos"/>
              </a:defRPr>
            </a:pPr>
            <a:r>
              <a:t>Angular  •  Spring Boot  • 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A4A"/>
                </a:solidFill>
                <a:latin typeface="Aptos Display"/>
              </a:defRPr>
            </a:pPr>
            <a:r>
              <a:t>Obiettivo e analisi dei requisiti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Perché nasce BrendyStudy e quali bisogni copre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C7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4533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Gli studenti possono avere competenze diverse e necessitare di supporto in specifiche materie. BrendyStudy organizza l’incontro tra chi offre e chi cerca aiuto.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4533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Obiettivo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Fornire un’unica applicazione per registrare competenze, individuare tutor, inviare richieste di supporto e organizzare appuntamenti.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54533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Utenti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2024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Studenti e tutor utilizzano le funzionalità operative; l’amministratore dispone di funzioni dedicate alla gestione degli utenti.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1024128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630"/>
                </a:solidFill>
                <a:latin typeface="Aptos"/>
              </a:defRPr>
            </a:pPr>
            <a:r>
              <a:t>• Autenticazione e gestione dei ruoli</a:t>
            </a:r>
          </a:p>
          <a:p>
            <a:pPr>
              <a:spcAft>
                <a:spcPts val="800"/>
              </a:spcAft>
              <a:defRPr sz="1800">
                <a:solidFill>
                  <a:srgbClr val="202630"/>
                </a:solidFill>
                <a:latin typeface="Aptos"/>
              </a:defRPr>
            </a:pPr>
            <a:r>
              <a:t>• Gestione delle materie e delle competenze</a:t>
            </a:r>
          </a:p>
          <a:p>
            <a:pPr>
              <a:spcAft>
                <a:spcPts val="800"/>
              </a:spcAft>
              <a:defRPr sz="1800">
                <a:solidFill>
                  <a:srgbClr val="202630"/>
                </a:solidFill>
                <a:latin typeface="Aptos"/>
              </a:defRPr>
            </a:pPr>
            <a:r>
              <a:t>• Richieste di supporto tra studenti</a:t>
            </a:r>
          </a:p>
          <a:p>
            <a:pPr>
              <a:spcAft>
                <a:spcPts val="800"/>
              </a:spcAft>
              <a:defRPr sz="1800">
                <a:solidFill>
                  <a:srgbClr val="202630"/>
                </a:solidFill>
                <a:latin typeface="Aptos"/>
              </a:defRPr>
            </a:pPr>
            <a:r>
              <a:t>• Gestione degli appuntamenti</a:t>
            </a:r>
          </a:p>
          <a:p>
            <a:pPr>
              <a:spcAft>
                <a:spcPts val="800"/>
              </a:spcAft>
              <a:defRPr sz="1800">
                <a:solidFill>
                  <a:srgbClr val="202630"/>
                </a:solidFill>
                <a:latin typeface="Aptos"/>
              </a:defRPr>
            </a:pPr>
            <a:r>
              <a:t>• Persistenza dei dati su database relazionale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A4A"/>
                </a:solidFill>
                <a:latin typeface="Aptos Display"/>
              </a:defRPr>
            </a:pPr>
            <a:r>
              <a:t>Organizzazione del progetto e 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Progetto individuale con pianificazione Agile adattata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C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10896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45336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Ruolo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Progetto svolto individualmente: analisi, progettazione, sviluppo frontend/backend, database, test e documentazione.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417320"/>
            <a:ext cx="310896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77639" y="1417320"/>
            <a:ext cx="73152" cy="141732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19" y="1545336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Trello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19" y="192024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Backlog organizzato per macrofunzionalità, con checklist tecniche FE / BE / DB e avanzamento delle attività.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417320"/>
            <a:ext cx="192024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69480" y="1417320"/>
            <a:ext cx="73152" cy="141732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1545336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9202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Macrofunzionalità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417320"/>
            <a:ext cx="1920240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72600" y="1417320"/>
            <a:ext cx="73152" cy="1417320"/>
          </a:xfrm>
          <a:prstGeom prst="rect">
            <a:avLst/>
          </a:prstGeom>
          <a:solidFill>
            <a:srgbClr val="30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55480" y="1545336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23 SP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192024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Story Points complessivi</a:t>
            </a:r>
          </a:p>
        </p:txBody>
      </p:sp>
      <p:pic>
        <p:nvPicPr>
          <p:cNvPr id="23" name="Picture 22" descr="Capture d'écran 2026-08-16 0957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785" y="3063240"/>
            <a:ext cx="6498124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A4A"/>
                </a:solidFill>
                <a:latin typeface="Aptos Display"/>
              </a:defRPr>
            </a:pPr>
            <a:r>
              <a:t>Disegno funzionale e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Flusso principale dell’utente all’interno di BrendyStudy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C7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907792"/>
            <a:ext cx="1271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52A4A"/>
                </a:solidFill>
                <a:latin typeface="Aptos"/>
              </a:defRPr>
            </a:pPr>
            <a:r>
              <a:t>Registrazione / Login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84248" y="3054096"/>
            <a:ext cx="192024" cy="274320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94560" y="274320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67712" y="2907792"/>
            <a:ext cx="1271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52A4A"/>
                </a:solidFill>
                <a:latin typeface="Aptos"/>
              </a:defRPr>
            </a:pPr>
            <a:r>
              <a:t>Materie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30168" y="3054096"/>
            <a:ext cx="192024" cy="274320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40480" y="274320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13632" y="2907792"/>
            <a:ext cx="1271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52A4A"/>
                </a:solidFill>
                <a:latin typeface="Aptos"/>
              </a:defRPr>
            </a:pPr>
            <a:r>
              <a:t>Competenze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6088" y="3054096"/>
            <a:ext cx="192024" cy="274320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0" y="274320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59552" y="2907792"/>
            <a:ext cx="1271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52A4A"/>
                </a:solidFill>
                <a:latin typeface="Aptos"/>
              </a:defRPr>
            </a:pPr>
            <a:r>
              <a:t>Ricerca tutor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22008" y="3054096"/>
            <a:ext cx="192024" cy="274320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32320" y="2743200"/>
            <a:ext cx="1417320" cy="914400"/>
          </a:xfrm>
          <a:prstGeom prst="roundRect">
            <a:avLst/>
          </a:prstGeom>
          <a:solidFill>
            <a:srgbClr val="DCE6F4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05472" y="2907792"/>
            <a:ext cx="1271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52A4A"/>
                </a:solidFill>
                <a:latin typeface="Aptos"/>
              </a:defRPr>
            </a:pPr>
            <a:r>
              <a:t>Richiesta supporto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67928" y="3054096"/>
            <a:ext cx="192024" cy="274320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778240" y="2743200"/>
            <a:ext cx="141732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51392" y="2907792"/>
            <a:ext cx="1271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52A4A"/>
                </a:solidFill>
                <a:latin typeface="Aptos"/>
              </a:defRPr>
            </a:pPr>
            <a:r>
              <a:t>Accetta / Rifiuta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213848" y="3054096"/>
            <a:ext cx="192024" cy="274320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24160" y="2743200"/>
            <a:ext cx="1417320" cy="914400"/>
          </a:xfrm>
          <a:prstGeom prst="roundRect">
            <a:avLst/>
          </a:prstGeom>
          <a:solidFill>
            <a:srgbClr val="DCE6F4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97312" y="2907792"/>
            <a:ext cx="1271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52A4A"/>
                </a:solidFill>
                <a:latin typeface="Aptos"/>
              </a:defRPr>
            </a:pPr>
            <a:r>
              <a:t>Appuntamento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630"/>
                </a:solidFill>
                <a:latin typeface="Aptos"/>
              </a:defRPr>
            </a:pPr>
            <a:r>
              <a:t>• Il percorso collega le funzioni principali senza interrompere il flusso dell’utente.</a:t>
            </a:r>
          </a:p>
          <a:p>
            <a:pPr>
              <a:spcAft>
                <a:spcPts val="800"/>
              </a:spcAft>
              <a:defRPr sz="1600">
                <a:solidFill>
                  <a:srgbClr val="202630"/>
                </a:solidFill>
                <a:latin typeface="Aptos"/>
              </a:defRPr>
            </a:pPr>
            <a:r>
              <a:t>• Le autorizzazioni dipendono dal ruolo e dallo stato dell’utente.</a:t>
            </a:r>
          </a:p>
          <a:p>
            <a:pPr>
              <a:spcAft>
                <a:spcPts val="800"/>
              </a:spcAft>
              <a:defRPr sz="1600">
                <a:solidFill>
                  <a:srgbClr val="202630"/>
                </a:solidFill>
                <a:latin typeface="Aptos"/>
              </a:defRPr>
            </a:pPr>
            <a:r>
              <a:t>• Le operazioni significative vengono persistite nel database MySQL.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A4A"/>
                </a:solidFill>
                <a:latin typeface="Aptos Display"/>
              </a:defRPr>
            </a:pPr>
            <a:r>
              <a:t>Architettura tecnica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Separazione frontend–backend e persistenza dei 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C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192024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73152" cy="1143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505456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Frontend</a:t>
            </a:r>
            <a:br/>
            <a:r>
              <a:t>Porta 4200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377440"/>
            <a:ext cx="164592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2377440"/>
            <a:ext cx="73152" cy="1143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2505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8036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HTTP /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057400"/>
            <a:ext cx="2103120" cy="178308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0" y="2057400"/>
            <a:ext cx="73152" cy="178308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0" y="2185416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5603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Controller</a:t>
            </a:r>
            <a:br/>
            <a:r>
              <a:t>Service</a:t>
            </a:r>
            <a:br/>
            <a:r>
              <a:t>Repository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377440"/>
            <a:ext cx="164592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2377440"/>
            <a:ext cx="73152" cy="1143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2505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JPA / Hibernate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88036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2377440"/>
            <a:ext cx="164592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0" y="2377440"/>
            <a:ext cx="73152" cy="1143000"/>
          </a:xfrm>
          <a:prstGeom prst="rect">
            <a:avLst/>
          </a:prstGeom>
          <a:solidFill>
            <a:srgbClr val="30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0" y="2505456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88036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Database</a:t>
            </a:r>
            <a:br/>
            <a:r>
              <a:t>brendystudy_spring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926080" y="2743200"/>
            <a:ext cx="347472" cy="256032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5029200" y="2743200"/>
            <a:ext cx="347472" cy="256032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7635240" y="2743200"/>
            <a:ext cx="347472" cy="256032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9738360" y="2743200"/>
            <a:ext cx="347472" cy="256032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00600"/>
            <a:ext cx="10241280" cy="1325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630"/>
                </a:solidFill>
                <a:latin typeface="Aptos"/>
              </a:defRPr>
            </a:pPr>
            <a:r>
              <a:t>• Frontend e backend sono progetti separati e versionati in repository GitHub distinti.</a:t>
            </a:r>
          </a:p>
          <a:p>
            <a:pPr>
              <a:spcAft>
                <a:spcPts val="800"/>
              </a:spcAft>
              <a:defRPr sz="1600">
                <a:solidFill>
                  <a:srgbClr val="202630"/>
                </a:solidFill>
                <a:latin typeface="Aptos"/>
              </a:defRPr>
            </a:pPr>
            <a:r>
              <a:t>• Il frontend comunica con il backend tramite endpoint REST.</a:t>
            </a:r>
          </a:p>
          <a:p>
            <a:pPr>
              <a:spcAft>
                <a:spcPts val="800"/>
              </a:spcAft>
              <a:defRPr sz="1600">
                <a:solidFill>
                  <a:srgbClr val="202630"/>
                </a:solidFill>
                <a:latin typeface="Aptos"/>
              </a:defRPr>
            </a:pPr>
            <a:r>
              <a:t>• Spring Data JPA gestisce l’accesso ai dati e le relazioni tra entità.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A4A"/>
                </a:solidFill>
                <a:latin typeface="Aptos Display"/>
              </a:defRPr>
            </a:pPr>
            <a:r>
              <a:t>Funzionalità implementate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Le principali macrofunzionalità realizzate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C7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57800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45336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1. Utenti e autenticazione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Registrazione, login, ruoli e stato dell’utente.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257800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73152" cy="123444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545336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2. Materie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202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Gestione e consultazione delle materie disponibili.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257800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73152" cy="123444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191256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3. Competenze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Associazione utente–materia con livello e descrizione.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063240"/>
            <a:ext cx="5257800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063240"/>
            <a:ext cx="73152" cy="123444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191256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4. Richieste di supporto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566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Invio e gestione delle richieste di tutoraggio.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4709160"/>
            <a:ext cx="5257800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56432" y="4709160"/>
            <a:ext cx="73152" cy="1234440"/>
          </a:xfrm>
          <a:prstGeom prst="rect">
            <a:avLst/>
          </a:prstGeom>
          <a:solidFill>
            <a:srgbClr val="30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39312" y="4837176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5. Appuntamenti e amministrazione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52120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Organizzazione degli incontri e funzioni dedicate all’amministratore.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A4A"/>
                </a:solidFill>
                <a:latin typeface="Aptos Display"/>
              </a:defRPr>
            </a:pPr>
            <a:r>
              <a:t>Dettaglio di una funzionalità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Workflow: richiesta di tutoraggio → appuntamento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C7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33172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150876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Studente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invia richiesta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72968" y="2404872"/>
            <a:ext cx="320040" cy="256032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33172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73152" cy="150876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0" y="1956816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Tutor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331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visualizza richiesta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2404872"/>
            <a:ext cx="320040" cy="256032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55080" y="1828800"/>
            <a:ext cx="233172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828800"/>
            <a:ext cx="73152" cy="150876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956816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Decisione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31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accetta / rifiuta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50807" y="2404872"/>
            <a:ext cx="320040" cy="256032"/>
          </a:xfrm>
          <a:prstGeom prst="rightArrow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3999" y="1828800"/>
            <a:ext cx="233172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3999" y="1828800"/>
            <a:ext cx="73152" cy="1508760"/>
          </a:xfrm>
          <a:prstGeom prst="rect">
            <a:avLst/>
          </a:prstGeom>
          <a:solidFill>
            <a:srgbClr val="30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79" y="1956816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Appuntamento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79" y="2331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creazione e gestione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51960"/>
            <a:ext cx="10241280" cy="1508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630"/>
                </a:solidFill>
                <a:latin typeface="Aptos"/>
              </a:defRPr>
            </a:pPr>
            <a:r>
              <a:t>• Il backend applica la logica di business nei Service.</a:t>
            </a:r>
          </a:p>
          <a:p>
            <a:pPr>
              <a:spcAft>
                <a:spcPts val="800"/>
              </a:spcAft>
              <a:defRPr sz="1700">
                <a:solidFill>
                  <a:srgbClr val="202630"/>
                </a:solidFill>
                <a:latin typeface="Aptos"/>
              </a:defRPr>
            </a:pPr>
            <a:r>
              <a:t>• I Controller espongono gli endpoint REST utilizzati dal frontend Angular.</a:t>
            </a:r>
          </a:p>
          <a:p>
            <a:pPr>
              <a:spcAft>
                <a:spcPts val="800"/>
              </a:spcAft>
              <a:defRPr sz="1700">
                <a:solidFill>
                  <a:srgbClr val="202630"/>
                </a:solidFill>
                <a:latin typeface="Aptos"/>
              </a:defRPr>
            </a:pPr>
            <a:r>
              <a:t>• Repository JPA e MySQL mantengono lo stato delle richieste e degli appuntamenti.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25367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A4A"/>
                </a:solidFill>
                <a:latin typeface="Aptos Display"/>
              </a:defRPr>
            </a:pPr>
            <a:r>
              <a:t>Database e modello dei dati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Entità principali e relazioni del dominio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C7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965960" cy="1417320"/>
          </a:xfrm>
          <a:prstGeom prst="roundRect">
            <a:avLst/>
          </a:prstGeom>
          <a:solidFill>
            <a:srgbClr val="F2F6FC"/>
          </a:solidFill>
          <a:ln w="1778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965960" cy="384048"/>
          </a:xfrm>
          <a:prstGeom prst="rect">
            <a:avLst/>
          </a:prstGeom>
          <a:solidFill>
            <a:srgbClr val="1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883664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86000"/>
            <a:ext cx="174650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PK idUtente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nome, cognome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username, ruolo, stato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325880"/>
            <a:ext cx="1965960" cy="1325880"/>
          </a:xfrm>
          <a:prstGeom prst="roundRect">
            <a:avLst/>
          </a:prstGeom>
          <a:solidFill>
            <a:srgbClr val="F2F6FC"/>
          </a:solidFill>
          <a:ln w="1778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74920" y="1325880"/>
            <a:ext cx="1965960" cy="384048"/>
          </a:xfrm>
          <a:prstGeom prst="rect">
            <a:avLst/>
          </a:prstGeom>
          <a:solidFill>
            <a:srgbClr val="1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48072" y="1380744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MATERIA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783080"/>
            <a:ext cx="1746504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PK idMateria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nome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880360"/>
            <a:ext cx="2240280" cy="1508760"/>
          </a:xfrm>
          <a:prstGeom prst="roundRect">
            <a:avLst/>
          </a:prstGeom>
          <a:solidFill>
            <a:srgbClr val="F2F6FC"/>
          </a:solidFill>
          <a:ln w="1778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80360" y="2880360"/>
            <a:ext cx="2240280" cy="384048"/>
          </a:xfrm>
          <a:prstGeom prst="rect">
            <a:avLst/>
          </a:prstGeom>
          <a:solidFill>
            <a:srgbClr val="1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3512" y="3004836"/>
            <a:ext cx="20939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COMPETENZA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357372"/>
            <a:ext cx="202082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PK idCompetenza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livello, descrizione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FK utente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FK materia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2880360"/>
            <a:ext cx="2423160" cy="1600200"/>
          </a:xfrm>
          <a:prstGeom prst="roundRect">
            <a:avLst/>
          </a:prstGeom>
          <a:solidFill>
            <a:srgbClr val="F2F6FC"/>
          </a:solidFill>
          <a:ln w="1778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95160" y="2880360"/>
            <a:ext cx="2423160" cy="384048"/>
          </a:xfrm>
          <a:prstGeom prst="rect">
            <a:avLst/>
          </a:prstGeom>
          <a:solidFill>
            <a:srgbClr val="1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8312" y="2935224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RICHIESTA_SUPPORTO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3337560"/>
            <a:ext cx="220370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PK idRichiesta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stato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FK studente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FK tutor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FK materia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4892040"/>
            <a:ext cx="2240280" cy="1417320"/>
          </a:xfrm>
          <a:prstGeom prst="roundRect">
            <a:avLst/>
          </a:prstGeom>
          <a:solidFill>
            <a:srgbClr val="F2F6FC"/>
          </a:solidFill>
          <a:ln w="1778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83480" y="4892040"/>
            <a:ext cx="2240280" cy="384048"/>
          </a:xfrm>
          <a:prstGeom prst="rect">
            <a:avLst/>
          </a:prstGeom>
          <a:solidFill>
            <a:srgbClr val="15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56632" y="4946904"/>
            <a:ext cx="20939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APPUNTAMENTO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5349240"/>
            <a:ext cx="202082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PK idAppuntamento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data / modalità / stato</a:t>
            </a:r>
          </a:p>
          <a:p>
            <a:pPr>
              <a:spcAft>
                <a:spcPts val="200"/>
              </a:spcAft>
              <a:defRPr sz="1050">
                <a:solidFill>
                  <a:srgbClr val="202630"/>
                </a:solidFill>
                <a:latin typeface="Aptos"/>
              </a:defRPr>
            </a:pPr>
            <a:r>
              <a:t>FK richiesta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60320" y="2514600"/>
            <a:ext cx="320040" cy="914400"/>
          </a:xfrm>
          <a:prstGeom prst="line">
            <a:avLst/>
          </a:prstGeom>
          <a:ln w="2032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4572000" y="2240280"/>
            <a:ext cx="502920" cy="640080"/>
          </a:xfrm>
          <a:prstGeom prst="line">
            <a:avLst/>
          </a:prstGeom>
          <a:ln w="2032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60320" y="2331720"/>
            <a:ext cx="4434840" cy="914400"/>
          </a:xfrm>
          <a:prstGeom prst="line">
            <a:avLst/>
          </a:prstGeom>
          <a:ln w="2032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0760" y="2651760"/>
            <a:ext cx="1691640" cy="228600"/>
          </a:xfrm>
          <a:prstGeom prst="line">
            <a:avLst/>
          </a:prstGeom>
          <a:ln w="2032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400800" y="4480560"/>
            <a:ext cx="1554479" cy="411480"/>
          </a:xfrm>
          <a:prstGeom prst="line">
            <a:avLst/>
          </a:prstGeom>
          <a:ln w="20320">
            <a:solidFill>
              <a:srgbClr val="646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00442" y="235458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A5CAA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52548" y="3215591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A5CAA"/>
                </a:solidFill>
                <a:latin typeface="Aptos"/>
              </a:defRPr>
            </a:pPr>
            <a:r>
              <a:rPr dirty="0"/>
              <a:t>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5172" y="207111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A5CAA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68833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A5CAA"/>
                </a:solidFill>
                <a:latin typeface="Aptos"/>
              </a:defRPr>
            </a:pPr>
            <a:r>
              <a:rPr dirty="0"/>
              <a:t>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73102" y="202539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A5CA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5412" y="320954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A5CAA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2670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A5CA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268376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A5CAA"/>
                </a:solidFill>
                <a:latin typeface="Aptos"/>
              </a:defRPr>
            </a:pPr>
            <a:r>
              <a:rPr dirty="0"/>
              <a:t>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51653" y="455076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A5CAA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255" y="462686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A5CAA"/>
                </a:solidFill>
                <a:latin typeface="Aptos"/>
              </a:defRPr>
            </a:pPr>
            <a:r>
              <a:rPr dirty="0"/>
              <a:t>0..1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20" y="1417320"/>
            <a:ext cx="2148840" cy="4800600"/>
          </a:xfrm>
          <a:prstGeom prst="roundRect">
            <a:avLst/>
          </a:prstGeom>
          <a:solidFill>
            <a:srgbClr val="F8FAFD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29800" y="1627632"/>
            <a:ext cx="1783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52A4A"/>
                </a:solidFill>
                <a:latin typeface="Aptos"/>
              </a:defRPr>
            </a:pPr>
            <a:r>
              <a:t>Relazioni principali</a:t>
            </a:r>
          </a:p>
          <a:p>
            <a:pPr>
              <a:spcAft>
                <a:spcPts val="500"/>
              </a:spcAft>
              <a:defRPr sz="1050" b="0">
                <a:solidFill>
                  <a:srgbClr val="202630"/>
                </a:solidFill>
                <a:latin typeface="Aptos"/>
              </a:defRPr>
            </a:pPr>
            <a:r>
              <a:t>• Un utente può avere più competenze.</a:t>
            </a:r>
          </a:p>
          <a:p>
            <a:pPr>
              <a:spcAft>
                <a:spcPts val="500"/>
              </a:spcAft>
              <a:defRPr sz="1050" b="0">
                <a:solidFill>
                  <a:srgbClr val="202630"/>
                </a:solidFill>
                <a:latin typeface="Aptos"/>
              </a:defRPr>
            </a:pPr>
            <a:r>
              <a:t>• Una materia può essere associata a più competenze.</a:t>
            </a:r>
          </a:p>
          <a:p>
            <a:pPr>
              <a:spcAft>
                <a:spcPts val="500"/>
              </a:spcAft>
              <a:defRPr sz="1050" b="0">
                <a:solidFill>
                  <a:srgbClr val="202630"/>
                </a:solidFill>
                <a:latin typeface="Aptos"/>
              </a:defRPr>
            </a:pPr>
            <a:r>
              <a:t>• Una richiesta collega studente, tutor e materia.</a:t>
            </a:r>
          </a:p>
          <a:p>
            <a:pPr>
              <a:spcAft>
                <a:spcPts val="500"/>
              </a:spcAft>
              <a:defRPr sz="1050" b="0">
                <a:solidFill>
                  <a:srgbClr val="202630"/>
                </a:solidFill>
                <a:latin typeface="Aptos"/>
              </a:defRPr>
            </a:pPr>
            <a:r>
              <a:t>• Da una richiesta accettata può derivare un appuntamento.</a:t>
            </a:r>
          </a:p>
          <a:p>
            <a:pPr>
              <a:spcAft>
                <a:spcPts val="800"/>
              </a:spcAft>
              <a:defRPr sz="1150" b="1">
                <a:solidFill>
                  <a:srgbClr val="152A4A"/>
                </a:solidFill>
                <a:latin typeface="Aptos"/>
              </a:defRPr>
            </a:pPr>
            <a:r>
              <a:t>Vincolo importante</a:t>
            </a:r>
          </a:p>
          <a:p>
            <a:pPr>
              <a:spcAft>
                <a:spcPts val="500"/>
              </a:spcAft>
              <a:defRPr sz="1050" b="0">
                <a:solidFill>
                  <a:srgbClr val="202630"/>
                </a:solidFill>
                <a:latin typeface="Aptos"/>
              </a:defRPr>
            </a:pPr>
            <a:r>
              <a:t>• Un utente non può inserire due competenze per la stessa materia.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A4A"/>
                </a:solidFill>
                <a:latin typeface="Aptos Display"/>
              </a:defRPr>
            </a:pPr>
            <a:r>
              <a:t>Testing e validazione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Test unitario della regola di business sulle competenze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C78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7" name="Picture 6" descr="Capture d'écran 2026-08-13 1315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2587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417320"/>
            <a:ext cx="3977639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52360" y="1417320"/>
            <a:ext cx="73152" cy="141732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545336"/>
            <a:ext cx="36575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Caso di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20240"/>
            <a:ext cx="36575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Uno studente non può registrare due competenze per la stessa materia.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063240"/>
            <a:ext cx="3977639" cy="141732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52360" y="3063240"/>
            <a:ext cx="73152" cy="141732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3191256"/>
            <a:ext cx="36575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Tecnologie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566160"/>
            <a:ext cx="365759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JUnit 5 + Mockito. I repository sono simulati per isolare la logica del CompetenzaService.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709160"/>
            <a:ext cx="3977639" cy="109728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4709160"/>
            <a:ext cx="73152" cy="1097280"/>
          </a:xfrm>
          <a:prstGeom prst="rect">
            <a:avLst/>
          </a:prstGeom>
          <a:solidFill>
            <a:srgbClr val="30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4837176"/>
            <a:ext cx="36575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Risultato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12080"/>
            <a:ext cx="3657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1 test eseguito • 0 failures • 0 skipped • 100% successful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A4A"/>
                </a:solidFill>
                <a:latin typeface="Aptos Display"/>
              </a:defRPr>
            </a:pPr>
            <a:r>
              <a:t>Risultati, esperienza e 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C78"/>
                </a:solidFill>
                <a:latin typeface="Aptos"/>
              </a:defRPr>
            </a:pPr>
            <a:r>
              <a:t>Valutazione finale del lavoro svolto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00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C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4533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Applicazione full-stack funzionante con frontend Angular, backend Spring Boot e database MySQL.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4533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Competenze acquisite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REST, organizzazione MVC, JPA, gestione dello stato frontend, Git/GitHub, Trello e testing automatico.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545336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A4A"/>
                </a:solidFill>
                <a:latin typeface="Aptos"/>
              </a:defRPr>
            </a:pPr>
            <a:r>
              <a:t>Esperienza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2024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02630"/>
                </a:solidFill>
                <a:latin typeface="Aptos"/>
              </a:defRPr>
            </a:pPr>
            <a:r>
              <a:t>Il progetto ha permesso di collegare analisi, sviluppo e verifica in un unico flusso software.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10241280" cy="16459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630"/>
                </a:solidFill>
                <a:latin typeface="Aptos"/>
              </a:defRPr>
            </a:pPr>
            <a:r>
              <a:t>• Difficoltà principali: integrazione frontend–backend, gestione delle relazioni tra entità e validazione delle regole di business.</a:t>
            </a:r>
          </a:p>
          <a:p>
            <a:pPr>
              <a:spcAft>
                <a:spcPts val="800"/>
              </a:spcAft>
              <a:defRPr sz="1600">
                <a:solidFill>
                  <a:srgbClr val="202630"/>
                </a:solidFill>
                <a:latin typeface="Aptos"/>
              </a:defRPr>
            </a:pPr>
            <a:r>
              <a:t>• Il lavoro individuale ha richiesto pianificazione e controllo costante delle attività.</a:t>
            </a:r>
          </a:p>
          <a:p>
            <a:pPr>
              <a:spcAft>
                <a:spcPts val="800"/>
              </a:spcAft>
              <a:defRPr sz="1600">
                <a:solidFill>
                  <a:srgbClr val="202630"/>
                </a:solidFill>
                <a:latin typeface="Aptos"/>
              </a:defRPr>
            </a:pPr>
            <a:r>
              <a:t>• Possibili evoluzioni: miglioramento UX, sicurezza dell’autenticazione e ampliamento dei test.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C78"/>
                </a:solidFill>
                <a:latin typeface="Aptos"/>
              </a:defRPr>
            </a:pPr>
            <a:r>
              <a:t>Repository e Trello: link disponibili nel file relazione_esame/LINKS.txt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788</Words>
  <Application>Microsoft Office PowerPoint</Application>
  <PresentationFormat>Widescreen</PresentationFormat>
  <Paragraphs>151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Yvan KAMGA</dc:creator>
  <cp:keywords/>
  <dc:description>generated using python-pptx</dc:description>
  <cp:lastModifiedBy>Yvan KAMGA</cp:lastModifiedBy>
  <cp:revision>2</cp:revision>
  <dcterms:created xsi:type="dcterms:W3CDTF">2013-01-27T09:14:16Z</dcterms:created>
  <dcterms:modified xsi:type="dcterms:W3CDTF">2026-08-16T08:13:25Z</dcterms:modified>
  <cp:category/>
</cp:coreProperties>
</file>